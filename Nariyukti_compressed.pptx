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Garamond" panose="02020404030301010803" pitchFamily="18" charset="0"/>
      <p:regular r:id="rId11"/>
      <p:bold r:id="rId12"/>
      <p:italic r:id="rId13"/>
      <p:boldItalic r:id="rId14"/>
    </p:embeddedFont>
    <p:embeddedFont>
      <p:font typeface="Oswald" panose="00000500000000000000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bAG0ywxW/yjoc5S6APoHWR53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igilocker.gov.in/" TargetMode="External"/><Relationship Id="rId13" Type="http://schemas.openxmlformats.org/officeDocument/2006/relationships/hyperlink" Target="https://aajeevika.gov.in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myscheme.gov.in/" TargetMode="External"/><Relationship Id="rId12" Type="http://schemas.openxmlformats.org/officeDocument/2006/relationships/hyperlink" Target="https://nsap.nic.in/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developers.facebook.com/docs/whatsapp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hyperlink" Target="https://pmaymis.gov.in/" TargetMode="External"/><Relationship Id="rId5" Type="http://schemas.openxmlformats.org/officeDocument/2006/relationships/image" Target="../media/image3.png"/><Relationship Id="rId15" Type="http://schemas.openxmlformats.org/officeDocument/2006/relationships/hyperlink" Target="https://rural.nic.in/" TargetMode="External"/><Relationship Id="rId10" Type="http://schemas.openxmlformats.org/officeDocument/2006/relationships/hyperlink" Target="https://nhm.gov.in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cd.nic.in/schemes" TargetMode="External"/><Relationship Id="rId14" Type="http://schemas.openxmlformats.org/officeDocument/2006/relationships/hyperlink" Target="https://digitalindia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@NariYukti’25 Idea submission- Template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-1117240" y="1084913"/>
            <a:ext cx="5817060" cy="133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NariYukti’25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-18672" y="1498603"/>
            <a:ext cx="5711549" cy="184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lang="en-IN"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IN" sz="3200" b="1" dirty="0"/>
              <a:t>Sahayini</a:t>
            </a:r>
            <a:r>
              <a:rPr lang="en-IN" sz="3200" dirty="0"/>
              <a:t> - </a:t>
            </a:r>
            <a:r>
              <a:rPr lang="en-US" sz="3200" dirty="0"/>
              <a:t>“</a:t>
            </a:r>
            <a:r>
              <a:rPr lang="en-US" sz="2800" dirty="0">
                <a:latin typeface="Oswald" panose="00000500000000000000" pitchFamily="2" charset="0"/>
              </a:rPr>
              <a:t>Helping Every Woman</a:t>
            </a:r>
          </a:p>
          <a:p>
            <a:pPr lvl="0" algn="ctr">
              <a:spcBef>
                <a:spcPts val="640"/>
              </a:spcBef>
              <a:buClr>
                <a:schemeClr val="dk1"/>
              </a:buClr>
              <a:buSzPts val="3200"/>
            </a:pPr>
            <a:r>
              <a:rPr lang="en-US" sz="2800" dirty="0">
                <a:latin typeface="Oswald" panose="00000500000000000000" pitchFamily="2" charset="0"/>
              </a:rPr>
              <a:t> Find the Support She Deserves</a:t>
            </a:r>
            <a:r>
              <a:rPr lang="en-US" sz="3200" dirty="0"/>
              <a:t>.”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5311" y="2842597"/>
            <a:ext cx="6148172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Theme: Rural Women Empowerment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Details: Aastha Yadav, Payal Pal, Niharika Dubey</a:t>
            </a:r>
          </a:p>
        </p:txBody>
      </p:sp>
      <p:grpSp>
        <p:nvGrpSpPr>
          <p:cNvPr id="93" name="Google Shape;93;p1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94" name="Google Shape;94;p1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person in a sari holding a checklist">
            <a:extLst>
              <a:ext uri="{FF2B5EF4-FFF2-40B4-BE49-F238E27FC236}">
                <a16:creationId xmlns:a16="http://schemas.microsoft.com/office/drawing/2014/main" id="{918DAB1F-64CE-2A87-FB61-1BF3D59763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1949" y="996352"/>
            <a:ext cx="5420439" cy="542043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123657" y="828700"/>
            <a:ext cx="6172781" cy="127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US" sz="24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Problem Statement: </a:t>
            </a:r>
            <a:r>
              <a:rPr lang="en-US" sz="1800" dirty="0"/>
              <a:t>Rural women are unaware of which government schemes they are eligible for due to scattered information, complex rules, and low digital literacy, resulting in missed benefits.</a:t>
            </a:r>
            <a:br>
              <a:rPr lang="en-US" sz="18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US" sz="2000" dirty="0"/>
              <a:t>	</a:t>
            </a:r>
            <a:endParaRPr sz="2000" dirty="0"/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65247" y="1810505"/>
            <a:ext cx="6404379" cy="504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0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Describe the real-world challenge.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b="1" dirty="0"/>
              <a:t>70%</a:t>
            </a:r>
            <a:r>
              <a:rPr lang="en-US" dirty="0"/>
              <a:t> of eligible rural women never receive scheme benefits despite      being qualified.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Eligibility depends on many factors </a:t>
            </a:r>
            <a:r>
              <a:rPr lang="en-US" b="1" dirty="0"/>
              <a:t>(income, caste, occupation, documents)</a:t>
            </a:r>
            <a:r>
              <a:rPr lang="en-US" dirty="0"/>
              <a:t>, causing confusion.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Document issues, </a:t>
            </a:r>
            <a:r>
              <a:rPr lang="en-US" b="1" dirty="0"/>
              <a:t>misinformation</a:t>
            </a:r>
            <a:r>
              <a:rPr lang="en-US" dirty="0"/>
              <a:t>, and </a:t>
            </a:r>
            <a:r>
              <a:rPr lang="en-US" b="1" dirty="0"/>
              <a:t>time-consuming processes </a:t>
            </a:r>
            <a:r>
              <a:rPr lang="en-US" dirty="0"/>
              <a:t>discourage women from applying.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Schemes are spread across </a:t>
            </a:r>
            <a:r>
              <a:rPr lang="en-US" b="1" dirty="0"/>
              <a:t>multiple websites</a:t>
            </a:r>
            <a:r>
              <a:rPr lang="en-US" dirty="0"/>
              <a:t>, </a:t>
            </a:r>
            <a:r>
              <a:rPr lang="en-US" b="1" dirty="0"/>
              <a:t>departments</a:t>
            </a:r>
            <a:r>
              <a:rPr lang="en-US" dirty="0"/>
              <a:t>, and </a:t>
            </a:r>
            <a:r>
              <a:rPr lang="en-US" b="1" dirty="0"/>
              <a:t>offline offices.</a:t>
            </a:r>
            <a:endParaRPr b="1" dirty="0"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0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Who is affected? (target users)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Rural women with </a:t>
            </a:r>
            <a:r>
              <a:rPr lang="en-US" b="1" dirty="0"/>
              <a:t>low</a:t>
            </a:r>
            <a:r>
              <a:rPr lang="en-US" dirty="0"/>
              <a:t> digital literacy.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Pregnant women and new mothers eligible for </a:t>
            </a:r>
            <a:r>
              <a:rPr lang="en-US" b="1" dirty="0"/>
              <a:t>health-related schemes</a:t>
            </a:r>
            <a:r>
              <a:rPr lang="en-US" dirty="0"/>
              <a:t>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Widows, single mothers, and elderly women.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IN" dirty="0"/>
              <a:t>Self-help group </a:t>
            </a:r>
            <a:r>
              <a:rPr lang="en-IN" b="1" dirty="0"/>
              <a:t>(SHG)</a:t>
            </a:r>
            <a:r>
              <a:rPr lang="en-IN" dirty="0"/>
              <a:t> members.</a:t>
            </a:r>
            <a:endParaRPr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0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Why does it matter? (motivation)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Eliminates </a:t>
            </a:r>
            <a:r>
              <a:rPr lang="en-US" b="1" dirty="0"/>
              <a:t>fraud</a:t>
            </a:r>
            <a:r>
              <a:rPr lang="en-US" dirty="0"/>
              <a:t> and </a:t>
            </a:r>
            <a:r>
              <a:rPr lang="en-US" b="1" dirty="0"/>
              <a:t>exploitation</a:t>
            </a:r>
            <a:r>
              <a:rPr lang="en-US" dirty="0"/>
              <a:t> by agents.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Helps bridge the gap between </a:t>
            </a:r>
            <a:r>
              <a:rPr lang="en-US" b="1" dirty="0"/>
              <a:t>government benefits </a:t>
            </a:r>
            <a:r>
              <a:rPr lang="en-US" dirty="0"/>
              <a:t>and </a:t>
            </a:r>
            <a:r>
              <a:rPr lang="en-US" b="1" dirty="0"/>
              <a:t>real beneficiaries.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Empowered women uplift entire </a:t>
            </a:r>
            <a:r>
              <a:rPr lang="en-US" b="1" dirty="0"/>
              <a:t>families</a:t>
            </a:r>
            <a:r>
              <a:rPr lang="en-US" dirty="0"/>
              <a:t> and </a:t>
            </a:r>
            <a:r>
              <a:rPr lang="en-US" b="1" dirty="0"/>
              <a:t>communities.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Access to </a:t>
            </a:r>
            <a:r>
              <a:rPr lang="en-US" b="1" dirty="0"/>
              <a:t>schemes</a:t>
            </a:r>
            <a:r>
              <a:rPr lang="en-US" dirty="0"/>
              <a:t> directly improves women’s income, health, and education.</a:t>
            </a:r>
            <a:endParaRPr dirty="0"/>
          </a:p>
        </p:txBody>
      </p:sp>
      <p:grpSp>
        <p:nvGrpSpPr>
          <p:cNvPr id="108" name="Google Shape;108;p2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109" name="Google Shape;109;p2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2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2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2" name="Google Shape;112;p2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diagram of a iceberg">
            <a:extLst>
              <a:ext uri="{FF2B5EF4-FFF2-40B4-BE49-F238E27FC236}">
                <a16:creationId xmlns:a16="http://schemas.microsoft.com/office/drawing/2014/main" id="{C45644AD-54DE-4798-C06A-81C2707507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828" y="1238802"/>
            <a:ext cx="5802925" cy="54291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36757" y="828700"/>
            <a:ext cx="5532627" cy="177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Proposed Solution: </a:t>
            </a:r>
            <a:r>
              <a:rPr lang="en-US" sz="1800" dirty="0" err="1"/>
              <a:t>Sahayini</a:t>
            </a:r>
            <a:r>
              <a:rPr lang="en-US" sz="1800" dirty="0"/>
              <a:t> is an AI-based assistant that helps rural women easily find which government schemes they are   eligible for and guides them step-by-step to apply—using voice, simple questions, and WhatsApp support.</a:t>
            </a:r>
            <a:br>
              <a:rPr lang="en-US" sz="1800" dirty="0"/>
            </a:br>
            <a:br>
              <a:rPr lang="en-US" sz="18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 sz="1800" b="1" dirty="0">
              <a:solidFill>
                <a:srgbClr val="E36C0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152854" y="1939292"/>
            <a:ext cx="4094681" cy="51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IN" sz="2400" dirty="0">
                <a:latin typeface="Oswald" panose="00000500000000000000" pitchFamily="2" charset="0"/>
              </a:rPr>
              <a:t>Key Features/Functionality: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AI-based scheme eligibility checker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dirty="0"/>
              <a:t>Voice assistant in local language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Document scan &amp; auto-form fill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dirty="0"/>
              <a:t>Fraud-prevention alerts for safe guidance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WhatsApp and low-network support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b="1" dirty="0"/>
              <a:t>Offline Mode: </a:t>
            </a:r>
            <a:r>
              <a:rPr lang="en-IN" sz="1600" dirty="0"/>
              <a:t>App stores basic scheme data locally so women can access information without internet.</a:t>
            </a:r>
          </a:p>
          <a:p>
            <a:pPr lvl="0">
              <a:buClr>
                <a:schemeClr val="dk1"/>
              </a:buClr>
              <a:buSzPts val="2800"/>
            </a:pPr>
            <a:endParaRPr lang="en-IN" dirty="0"/>
          </a:p>
          <a:p>
            <a:pPr lvl="0">
              <a:buClr>
                <a:schemeClr val="dk1"/>
              </a:buClr>
              <a:buSzPts val="2800"/>
            </a:pPr>
            <a:r>
              <a:rPr lang="en-IN" sz="2000" dirty="0">
                <a:latin typeface="Oswald" panose="00000500000000000000" pitchFamily="2" charset="0"/>
              </a:rPr>
              <a:t>What Make It Different /Innovative?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Voice-First, Local-Language Interaction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SHG &amp; ASHA Helper Mode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Personalized Recommendations Using AI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 dirty="0"/>
              <a:t>Document Scan + Auto-Form Fill Using OCR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1600" dirty="0"/>
              <a:t>Fraud Prevention &amp; Transparency</a:t>
            </a:r>
            <a:endParaRPr lang="en-US" sz="1600" dirty="0"/>
          </a:p>
          <a:p>
            <a:pPr lvl="0">
              <a:buClr>
                <a:schemeClr val="dk1"/>
              </a:buClr>
              <a:buSzPts val="2800"/>
            </a:pPr>
            <a:endParaRPr lang="en-IN" dirty="0">
              <a:latin typeface="+mj-lt"/>
            </a:endParaRPr>
          </a:p>
        </p:txBody>
      </p:sp>
      <p:grpSp>
        <p:nvGrpSpPr>
          <p:cNvPr id="123" name="Google Shape;123;p3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124" name="Google Shape;124;p3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3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3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7" name="Google Shape;127;p3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32F4D-C4F4-8DA8-6F00-C59D1D0725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879" r="7240"/>
          <a:stretch>
            <a:fillRect/>
          </a:stretch>
        </p:blipFill>
        <p:spPr>
          <a:xfrm>
            <a:off x="3624415" y="2136528"/>
            <a:ext cx="3718109" cy="4721472"/>
          </a:xfrm>
          <a:prstGeom prst="rect">
            <a:avLst/>
          </a:prstGeom>
        </p:spPr>
      </p:pic>
      <p:pic>
        <p:nvPicPr>
          <p:cNvPr id="9" name="Picture 8" descr="A diagram of a multicolored circle with text&#10;&#10;AI-generated content may be incorrect.">
            <a:extLst>
              <a:ext uri="{FF2B5EF4-FFF2-40B4-BE49-F238E27FC236}">
                <a16:creationId xmlns:a16="http://schemas.microsoft.com/office/drawing/2014/main" id="{312037FD-92A6-B019-A739-1323D2A066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8555" y="1258530"/>
            <a:ext cx="4920591" cy="53897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-78660" y="900753"/>
            <a:ext cx="5407743" cy="56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Significance &amp; Benefits</a:t>
            </a:r>
            <a:b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 sz="4000" b="1" dirty="0">
              <a:solidFill>
                <a:srgbClr val="E36C0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4" name="Google Shape;134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35" name="Google Shape;135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8657" y="982395"/>
            <a:ext cx="6556225" cy="62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Who will benefit and how?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b="1" dirty="0"/>
              <a:t>Rural women</a:t>
            </a:r>
            <a:r>
              <a:rPr lang="en-US" sz="1600" dirty="0"/>
              <a:t> gain easy access to the schemes they deserve without confusion or middlemen.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b="1" dirty="0"/>
              <a:t>Low-income families</a:t>
            </a:r>
            <a:r>
              <a:rPr lang="en-US" sz="1600" dirty="0"/>
              <a:t> receive timely financial support, health benefits, and education schemes.</a:t>
            </a:r>
          </a:p>
          <a:p>
            <a:pPr marL="28575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b="1" dirty="0"/>
              <a:t>SHGs and ASHA workers</a:t>
            </a:r>
            <a:r>
              <a:rPr lang="en-US" sz="1600" dirty="0"/>
              <a:t> get a tool to help multiple women efficiently.</a:t>
            </a:r>
            <a:endParaRPr sz="16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Social, economic, or environmental impact.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b="1" dirty="0"/>
              <a:t>Social:</a:t>
            </a:r>
            <a:r>
              <a:rPr lang="en-US" sz="1600" dirty="0"/>
              <a:t> Reduces dependency, increases awareness, and promotes equality in access to government support.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b="1" dirty="0"/>
              <a:t>Economic:</a:t>
            </a:r>
            <a:r>
              <a:rPr lang="en-US" sz="1600" dirty="0"/>
              <a:t> Ensures women receive financial aid, subsidies, and opportunities that improve household income.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b="1" dirty="0"/>
              <a:t>Environmental:</a:t>
            </a:r>
            <a:r>
              <a:rPr lang="en-US" sz="1600" dirty="0"/>
              <a:t> Digital documentation reduces paper usage and unnecessary travel to government offices.</a:t>
            </a:r>
            <a:endParaRPr sz="1600"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How it aligns with inclusivity and empowerment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dirty="0"/>
              <a:t>Designed for </a:t>
            </a:r>
            <a:r>
              <a:rPr lang="en-US" sz="1600" b="1" dirty="0"/>
              <a:t>low-literacy, rural, and marginalized women</a:t>
            </a:r>
            <a:r>
              <a:rPr lang="en-US" sz="1600" dirty="0"/>
              <a:t>, ensuring no one is excluded.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dirty="0"/>
              <a:t>Voice-based and local-language support makes the platform accessible to every woman.</a:t>
            </a:r>
          </a:p>
          <a:p>
            <a:pPr marL="28575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sz="1600" dirty="0"/>
              <a:t>Empowers women with </a:t>
            </a:r>
            <a:r>
              <a:rPr lang="en-US" sz="1600" b="1" dirty="0"/>
              <a:t>knowledge, independence, and confidence</a:t>
            </a:r>
            <a:r>
              <a:rPr lang="en-US" sz="1600" dirty="0"/>
              <a:t> to use government systems without fear or exploitation.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800"/>
            </a:pPr>
            <a:endParaRPr dirty="0"/>
          </a:p>
        </p:txBody>
      </p:sp>
      <p:grpSp>
        <p:nvGrpSpPr>
          <p:cNvPr id="138" name="Google Shape;138;p4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139" name="Google Shape;139;p4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4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4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2" name="Google Shape;142;p4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7D7FCC-7729-3BDF-89E5-847563FDC5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986" t="8148" r="9253" b="2722"/>
          <a:stretch>
            <a:fillRect/>
          </a:stretch>
        </p:blipFill>
        <p:spPr>
          <a:xfrm>
            <a:off x="6528619" y="1056995"/>
            <a:ext cx="5663381" cy="56714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51" name="Google Shape;151;p5"/>
          <p:cNvSpPr txBox="1">
            <a:spLocks noGrp="1"/>
          </p:cNvSpPr>
          <p:nvPr>
            <p:ph type="title"/>
          </p:nvPr>
        </p:nvSpPr>
        <p:spPr>
          <a:xfrm>
            <a:off x="3796329" y="970535"/>
            <a:ext cx="4187466" cy="418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Technical Solution</a:t>
            </a:r>
            <a:br>
              <a:rPr lang="en-US" sz="32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 sz="3200" b="1" dirty="0">
              <a:solidFill>
                <a:srgbClr val="E36C0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53" name="Google Shape;153;p5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154" name="Google Shape;154;p5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5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5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7" name="Google Shape;157;p5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E13A6A-A80A-A3E6-5B1B-6FBD82986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317661"/>
              </p:ext>
            </p:extLst>
          </p:nvPr>
        </p:nvGraphicFramePr>
        <p:xfrm>
          <a:off x="532242" y="1179632"/>
          <a:ext cx="11345127" cy="5541843"/>
        </p:xfrm>
        <a:graphic>
          <a:graphicData uri="http://schemas.openxmlformats.org/drawingml/2006/table">
            <a:tbl>
              <a:tblPr/>
              <a:tblGrid>
                <a:gridCol w="3781709">
                  <a:extLst>
                    <a:ext uri="{9D8B030D-6E8A-4147-A177-3AD203B41FA5}">
                      <a16:colId xmlns:a16="http://schemas.microsoft.com/office/drawing/2014/main" val="2891536298"/>
                    </a:ext>
                  </a:extLst>
                </a:gridCol>
                <a:gridCol w="3781709">
                  <a:extLst>
                    <a:ext uri="{9D8B030D-6E8A-4147-A177-3AD203B41FA5}">
                      <a16:colId xmlns:a16="http://schemas.microsoft.com/office/drawing/2014/main" val="4294334799"/>
                    </a:ext>
                  </a:extLst>
                </a:gridCol>
                <a:gridCol w="3781709">
                  <a:extLst>
                    <a:ext uri="{9D8B030D-6E8A-4147-A177-3AD203B41FA5}">
                      <a16:colId xmlns:a16="http://schemas.microsoft.com/office/drawing/2014/main" val="418366915"/>
                    </a:ext>
                  </a:extLst>
                </a:gridCol>
              </a:tblGrid>
              <a:tr h="30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Component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Technical Direction</a:t>
                      </a:r>
                      <a:endParaRPr lang="en-IN" sz="1300" dirty="0"/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Technologies / Tools / Platforms</a:t>
                      </a:r>
                      <a:endParaRPr lang="en-IN" sz="1300" dirty="0"/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59846"/>
                  </a:ext>
                </a:extLst>
              </a:tr>
              <a:tr h="5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Frontend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Build a simple, user-friendly interface with local language support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300" dirty="0"/>
                        <a:t>React.js, HTML, CSS, Bootstrap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476304"/>
                  </a:ext>
                </a:extLst>
              </a:tr>
              <a:tr h="5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Backend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Handle eligibility logic, API processing, and data flow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Node.js, Express.js / Python Flask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776770"/>
                  </a:ext>
                </a:extLst>
              </a:tr>
              <a:tr h="5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Database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Store user details, schemes, documents, and status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Firebase / MongoDB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859014"/>
                  </a:ext>
                </a:extLst>
              </a:tr>
              <a:tr h="5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AI Eligibility Engine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Match user inputs with schemes using rule-based AI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Python, JSON rule sets, ML logic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757252"/>
                  </a:ext>
                </a:extLst>
              </a:tr>
              <a:tr h="50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Voice Assistant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Enable speech input and voice guidance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Google Speech-to-Text, Text-to-Speech API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087997"/>
                  </a:ext>
                </a:extLst>
              </a:tr>
              <a:tr h="5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WhatsApp Integration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Provide updates and application support via WhatsApp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WhatsApp Cloud API / Twilio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724760"/>
                  </a:ext>
                </a:extLst>
              </a:tr>
              <a:tr h="50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OCR Document Scan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Extract data from documents for auto-form filling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Tesseract OCR / Google Vision API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152585"/>
                  </a:ext>
                </a:extLst>
              </a:tr>
              <a:tr h="30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Authentication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Simple login suitable for rural users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Firebase Auth / OTP-based login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912432"/>
                  </a:ext>
                </a:extLst>
              </a:tr>
              <a:tr h="518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Hosting / Deployment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Deploy both frontend and backend quickly and reliably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 err="1"/>
                        <a:t>Vercel,Netlify</a:t>
                      </a:r>
                      <a:endParaRPr lang="en-IN" sz="1300" b="0" dirty="0"/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047213"/>
                  </a:ext>
                </a:extLst>
              </a:tr>
              <a:tr h="506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Version Control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Manage team collaboration and code changes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GitHub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64354"/>
                  </a:ext>
                </a:extLst>
              </a:tr>
              <a:tr h="30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UI/UX Prototype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Create mockups and design screens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Figma / Canva</a:t>
                      </a:r>
                    </a:p>
                  </a:txBody>
                  <a:tcPr marL="82472" marR="82472" marT="41236" marB="41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6038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software process">
            <a:extLst>
              <a:ext uri="{FF2B5EF4-FFF2-40B4-BE49-F238E27FC236}">
                <a16:creationId xmlns:a16="http://schemas.microsoft.com/office/drawing/2014/main" id="{CEB7BD07-FDDE-6A69-A88F-D6C07F3F4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5710"/>
            <a:ext cx="12192000" cy="5582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3" name="Google Shape;163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4" name="Google Shape;164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4066836" y="1029796"/>
            <a:ext cx="3744638" cy="49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Approach</a:t>
            </a:r>
            <a:b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 sz="4000" b="1" dirty="0">
              <a:solidFill>
                <a:srgbClr val="E36C0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169" name="Google Shape;169;p6" descr="Poornima College Of Engineeri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6" descr="File:Infosys logo.svg - Wikimedia Common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6" descr="ACM-India CS Education Workshop – Event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2" name="Google Shape;172;p6"/>
          <p:cNvPicPr preferRelativeResize="0"/>
          <p:nvPr/>
        </p:nvPicPr>
        <p:blipFill rotWithShape="1">
          <a:blip r:embed="rId7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79" name="Google Shape;179;p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81" name="Google Shape;181;p7"/>
          <p:cNvSpPr txBox="1">
            <a:spLocks noGrp="1"/>
          </p:cNvSpPr>
          <p:nvPr>
            <p:ph type="title"/>
          </p:nvPr>
        </p:nvSpPr>
        <p:spPr>
          <a:xfrm>
            <a:off x="25097" y="987502"/>
            <a:ext cx="6329820" cy="10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Future Scope &amp; Conclusion</a:t>
            </a:r>
            <a:b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 sz="4000" b="1" dirty="0">
              <a:solidFill>
                <a:srgbClr val="E36C0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32841" y="1336229"/>
            <a:ext cx="5963159" cy="5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8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Possible enhancements or scalability.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Add </a:t>
            </a:r>
            <a:r>
              <a:rPr lang="en-US" b="1" dirty="0"/>
              <a:t>multi-language </a:t>
            </a:r>
            <a:r>
              <a:rPr lang="en-US" dirty="0"/>
              <a:t>support for all Indian states.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Integrate with </a:t>
            </a:r>
            <a:r>
              <a:rPr lang="en-US" b="1" dirty="0" err="1"/>
              <a:t>DigiLocker</a:t>
            </a:r>
            <a:r>
              <a:rPr lang="en-US" dirty="0"/>
              <a:t> for automatic document verification.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Enable full </a:t>
            </a:r>
            <a:r>
              <a:rPr lang="en-US" b="1" dirty="0"/>
              <a:t>IVR (voice-call based) </a:t>
            </a:r>
            <a:r>
              <a:rPr lang="en-US" dirty="0"/>
              <a:t>assistance for non-smartphone users.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Expand </a:t>
            </a:r>
            <a:r>
              <a:rPr lang="en-US" b="1" dirty="0"/>
              <a:t>database</a:t>
            </a:r>
            <a:r>
              <a:rPr lang="en-US" dirty="0"/>
              <a:t> to include state-specific </a:t>
            </a:r>
            <a:r>
              <a:rPr lang="en-US" b="1" dirty="0"/>
              <a:t>schemes</a:t>
            </a:r>
            <a:r>
              <a:rPr lang="en-US" dirty="0"/>
              <a:t> and</a:t>
            </a:r>
            <a:r>
              <a:rPr lang="en-US" b="1" dirty="0"/>
              <a:t> seasonal </a:t>
            </a:r>
            <a:r>
              <a:rPr lang="en-US" dirty="0"/>
              <a:t>programs.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Deploy nation-wide with </a:t>
            </a:r>
            <a:r>
              <a:rPr lang="en-US" b="1" dirty="0"/>
              <a:t>SHG/ASHA </a:t>
            </a:r>
            <a:r>
              <a:rPr lang="en-US" dirty="0"/>
              <a:t>partnerships for faster adoption.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8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Expected outcomes or vision.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Rural women gain easier, faster access to </a:t>
            </a:r>
            <a:r>
              <a:rPr lang="en-US" b="1" dirty="0"/>
              <a:t>government benefits </a:t>
            </a:r>
            <a:r>
              <a:rPr lang="en-US" dirty="0"/>
              <a:t>without confusion.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Reduction in fraud and dependency on </a:t>
            </a:r>
            <a:r>
              <a:rPr lang="en-US" b="1" dirty="0"/>
              <a:t>middlemen</a:t>
            </a:r>
            <a:r>
              <a:rPr lang="en-US" dirty="0"/>
              <a:t>.</a:t>
            </a:r>
          </a:p>
          <a:p>
            <a:pPr marL="285750" lvl="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Improved </a:t>
            </a:r>
            <a:r>
              <a:rPr lang="en-US" b="1" dirty="0"/>
              <a:t>financial stability </a:t>
            </a:r>
            <a:r>
              <a:rPr lang="en-US" dirty="0"/>
              <a:t>and </a:t>
            </a:r>
            <a:r>
              <a:rPr lang="en-US" b="1" dirty="0"/>
              <a:t>empowerment</a:t>
            </a:r>
            <a:r>
              <a:rPr lang="en-US" dirty="0"/>
              <a:t> at the family and community level.</a:t>
            </a:r>
          </a:p>
          <a:p>
            <a:pPr marL="285750" indent="-285750">
              <a:buClr>
                <a:schemeClr val="dk1"/>
              </a:buClr>
              <a:buSzPts val="2800"/>
              <a:buFont typeface="Courier New" panose="02070309020205020404" pitchFamily="49" charset="0"/>
              <a:buChar char="o"/>
            </a:pPr>
            <a:r>
              <a:rPr lang="en-US" dirty="0"/>
              <a:t>A future where every woman can claim her rights through simple, accessible </a:t>
            </a:r>
            <a:r>
              <a:rPr lang="en-US" b="1" dirty="0"/>
              <a:t>digital tools</a:t>
            </a:r>
            <a:r>
              <a:rPr lang="en-US" dirty="0"/>
              <a:t>.</a:t>
            </a:r>
          </a:p>
          <a:p>
            <a:pPr>
              <a:buClr>
                <a:schemeClr val="dk1"/>
              </a:buClr>
              <a:buSzPts val="2800"/>
            </a:pPr>
            <a:endParaRPr dirty="0"/>
          </a:p>
          <a:p>
            <a:pPr marL="285750" lvl="0" indent="-285750">
              <a:buClr>
                <a:schemeClr val="dk1"/>
              </a:buClr>
              <a:buSzPts val="2800"/>
              <a:buFont typeface="Oswald"/>
              <a:buChar char="•"/>
            </a:pPr>
            <a:r>
              <a:rPr lang="en-US" sz="2800" b="1" dirty="0"/>
              <a:t>“</a:t>
            </a:r>
            <a:r>
              <a:rPr lang="en-US" sz="2400" b="1" dirty="0" err="1"/>
              <a:t>Sahayini</a:t>
            </a:r>
            <a:r>
              <a:rPr lang="en-US" sz="2400" b="1" dirty="0"/>
              <a:t> isn’t just a tool—it’s a step toward a more inclusive future.”</a:t>
            </a:r>
            <a:endParaRPr lang="en-US" sz="2400" b="1" dirty="0">
              <a:solidFill>
                <a:schemeClr val="dk1"/>
              </a:solidFill>
              <a:latin typeface="Oswald"/>
              <a:sym typeface="Oswald"/>
            </a:endParaRPr>
          </a:p>
        </p:txBody>
      </p:sp>
      <p:grpSp>
        <p:nvGrpSpPr>
          <p:cNvPr id="183" name="Google Shape;183;p7"/>
          <p:cNvGrpSpPr/>
          <p:nvPr/>
        </p:nvGrpSpPr>
        <p:grpSpPr>
          <a:xfrm>
            <a:off x="763850" y="327247"/>
            <a:ext cx="7973750" cy="638675"/>
            <a:chOff x="1260075" y="190019"/>
            <a:chExt cx="7972953" cy="638611"/>
          </a:xfrm>
        </p:grpSpPr>
        <p:pic>
          <p:nvPicPr>
            <p:cNvPr id="184" name="Google Shape;184;p7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7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7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7" name="Google Shape;187;p7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2D988C05-5523-86B4-4BF9-2EF2F01434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581" y="889138"/>
            <a:ext cx="8354135" cy="5968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94" name="Google Shape;194;p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/>
          </a:p>
        </p:txBody>
      </p:sp>
      <p:sp>
        <p:nvSpPr>
          <p:cNvPr id="196" name="Google Shape;196;p8"/>
          <p:cNvSpPr txBox="1">
            <a:spLocks noGrp="1"/>
          </p:cNvSpPr>
          <p:nvPr>
            <p:ph type="title"/>
          </p:nvPr>
        </p:nvSpPr>
        <p:spPr>
          <a:xfrm>
            <a:off x="302697" y="8891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  <a:t>References</a:t>
            </a:r>
            <a:br>
              <a:rPr lang="en-US" sz="4000" b="1" dirty="0">
                <a:solidFill>
                  <a:srgbClr val="E36C09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 sz="4000" b="1" dirty="0">
              <a:solidFill>
                <a:srgbClr val="E36C0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197" name="Google Shape;197;p8"/>
          <p:cNvGrpSpPr/>
          <p:nvPr/>
        </p:nvGrpSpPr>
        <p:grpSpPr>
          <a:xfrm>
            <a:off x="1260125" y="190025"/>
            <a:ext cx="7973750" cy="638675"/>
            <a:chOff x="1260075" y="190019"/>
            <a:chExt cx="7972953" cy="638611"/>
          </a:xfrm>
        </p:grpSpPr>
        <p:pic>
          <p:nvPicPr>
            <p:cNvPr id="198" name="Google Shape;198;p8" descr="Poornima College Of Engineer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8512" y="190019"/>
              <a:ext cx="2844515" cy="638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8" descr="File:Infosys logo.svg - Wikimedia Comm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16149" y="262262"/>
              <a:ext cx="1772445" cy="49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8" descr="ACM-India CS Education Workshop – Events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260075" y="190019"/>
              <a:ext cx="1872024" cy="56401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1" name="Google Shape;201;p8"/>
          <p:cNvPicPr preferRelativeResize="0"/>
          <p:nvPr/>
        </p:nvPicPr>
        <p:blipFill rotWithShape="1">
          <a:blip r:embed="rId6">
            <a:alphaModFix/>
          </a:blip>
          <a:srcRect t="24601" b="18831"/>
          <a:stretch/>
        </p:blipFill>
        <p:spPr>
          <a:xfrm>
            <a:off x="9836875" y="129588"/>
            <a:ext cx="1360455" cy="759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B5B17D-C1CB-50AB-C98C-D68F7D704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050789"/>
              </p:ext>
            </p:extLst>
          </p:nvPr>
        </p:nvGraphicFramePr>
        <p:xfrm>
          <a:off x="302697" y="1588250"/>
          <a:ext cx="11692659" cy="5007473"/>
        </p:xfrm>
        <a:graphic>
          <a:graphicData uri="http://schemas.openxmlformats.org/drawingml/2006/table">
            <a:tbl>
              <a:tblPr/>
              <a:tblGrid>
                <a:gridCol w="3897553">
                  <a:extLst>
                    <a:ext uri="{9D8B030D-6E8A-4147-A177-3AD203B41FA5}">
                      <a16:colId xmlns:a16="http://schemas.microsoft.com/office/drawing/2014/main" val="3080869507"/>
                    </a:ext>
                  </a:extLst>
                </a:gridCol>
                <a:gridCol w="3897553">
                  <a:extLst>
                    <a:ext uri="{9D8B030D-6E8A-4147-A177-3AD203B41FA5}">
                      <a16:colId xmlns:a16="http://schemas.microsoft.com/office/drawing/2014/main" val="2058849097"/>
                    </a:ext>
                  </a:extLst>
                </a:gridCol>
                <a:gridCol w="3897553">
                  <a:extLst>
                    <a:ext uri="{9D8B030D-6E8A-4147-A177-3AD203B41FA5}">
                      <a16:colId xmlns:a16="http://schemas.microsoft.com/office/drawing/2014/main" val="2967430843"/>
                    </a:ext>
                  </a:extLst>
                </a:gridCol>
              </a:tblGrid>
              <a:tr h="34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Reference Name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Official Link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983671"/>
                  </a:ext>
                </a:extLst>
              </a:tr>
              <a:tr h="58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myScheme</a:t>
                      </a:r>
                      <a:r>
                        <a:rPr lang="en-IN" b="1" dirty="0"/>
                        <a:t> Portal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Government of India’s unified scheme discovery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7"/>
                        </a:rPr>
                        <a:t>https://www.myscheme.gov.in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998237"/>
                  </a:ext>
                </a:extLst>
              </a:tr>
              <a:tr h="58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DigiLocker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document wallet for verification &amp;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8"/>
                        </a:rPr>
                        <a:t>https://www.digilocker.gov.in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970366"/>
                  </a:ext>
                </a:extLst>
              </a:tr>
              <a:tr h="34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Ministry of Women &amp; Child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Official schemes for women &amp; children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9"/>
                        </a:rPr>
                        <a:t>https://wcd.nic.in/schemes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99523"/>
                  </a:ext>
                </a:extLst>
              </a:tr>
              <a:tr h="34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National Health 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Maternal, child &amp; women health programs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10"/>
                        </a:rPr>
                        <a:t>https://nhm.gov.in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547908"/>
                  </a:ext>
                </a:extLst>
              </a:tr>
              <a:tr h="34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PM Awas Yojana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Housing scheme guidelines &amp;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11"/>
                        </a:rPr>
                        <a:t>https://pmaymis.gov.in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762234"/>
                  </a:ext>
                </a:extLst>
              </a:tr>
              <a:tr h="34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NSAP (Pension Schemes)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Widow, disability &amp; elderly pension assistance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12"/>
                        </a:rPr>
                        <a:t>https://nsap.nic.in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75202"/>
                  </a:ext>
                </a:extLst>
              </a:tr>
              <a:tr h="58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SHG – DAY-NRLM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Self-Help Group resources &amp; rural livelihood programs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13"/>
                        </a:rPr>
                        <a:t>https://aajeevika.gov.in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467733"/>
                  </a:ext>
                </a:extLst>
              </a:tr>
              <a:tr h="58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Digital India 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Digital inclusion &amp; government service digitization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14"/>
                        </a:rPr>
                        <a:t>https://digitalindia.gov.in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261597"/>
                  </a:ext>
                </a:extLst>
              </a:tr>
              <a:tr h="34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Ministry of Rural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Rural welfare &amp; poverty alleviation schemes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15"/>
                        </a:rPr>
                        <a:t>https://rural.nic.in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558932"/>
                  </a:ext>
                </a:extLst>
              </a:tr>
              <a:tr h="58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WhatsApp Cloud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Messaging automation for notifications &amp;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16"/>
                        </a:rPr>
                        <a:t>https://developers.facebook.com/docs/whatsapp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9341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1038</Words>
  <Application>Microsoft Office PowerPoint</Application>
  <PresentationFormat>Widescreen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Courier New</vt:lpstr>
      <vt:lpstr>Times New Roman</vt:lpstr>
      <vt:lpstr>Garamond</vt:lpstr>
      <vt:lpstr>Oswald</vt:lpstr>
      <vt:lpstr>Calibri</vt:lpstr>
      <vt:lpstr>Arial</vt:lpstr>
      <vt:lpstr>Office Theme</vt:lpstr>
      <vt:lpstr>PowerPoint Presentation</vt:lpstr>
      <vt:lpstr>Problem Statement: Rural women are unaware of which government schemes they are eligible for due to scattered information, complex rules, and low digital literacy, resulting in missed benefits.  </vt:lpstr>
      <vt:lpstr>Proposed Solution: Sahayini is an AI-based assistant that helps rural women easily find which government schemes they are   eligible for and guides them step-by-step to apply—using voice, simple questions, and WhatsApp support.  </vt:lpstr>
      <vt:lpstr>Significance &amp; Benefits </vt:lpstr>
      <vt:lpstr>Technical Solution </vt:lpstr>
      <vt:lpstr>Approach </vt:lpstr>
      <vt:lpstr>Future Scope &amp; Conclusion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Aastha Yadav</cp:lastModifiedBy>
  <cp:revision>3</cp:revision>
  <dcterms:created xsi:type="dcterms:W3CDTF">2013-12-12T18:46:50Z</dcterms:created>
  <dcterms:modified xsi:type="dcterms:W3CDTF">2025-11-19T14:38:25Z</dcterms:modified>
</cp:coreProperties>
</file>